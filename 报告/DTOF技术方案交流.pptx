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  <p:sldMasterId id="2147483651" r:id="rId3"/>
  </p:sldMasterIdLst>
  <p:notesMasterIdLst>
    <p:notesMasterId r:id="rId5"/>
  </p:notesMasterIdLst>
  <p:sldIdLst>
    <p:sldId id="256" r:id="rId4"/>
    <p:sldId id="258" r:id="rId6"/>
    <p:sldId id="259" r:id="rId7"/>
    <p:sldId id="262" r:id="rId8"/>
    <p:sldId id="260" r:id="rId9"/>
    <p:sldId id="289" r:id="rId10"/>
    <p:sldId id="285" r:id="rId11"/>
    <p:sldId id="287" r:id="rId12"/>
    <p:sldId id="288" r:id="rId13"/>
    <p:sldId id="290" r:id="rId14"/>
    <p:sldId id="261" r:id="rId15"/>
    <p:sldId id="284" r:id="rId16"/>
    <p:sldId id="291" r:id="rId17"/>
    <p:sldId id="292" r:id="rId18"/>
    <p:sldId id="293" r:id="rId19"/>
    <p:sldId id="282" r:id="rId20"/>
  </p:sldIdLst>
  <p:sldSz cx="12192000" cy="6858000"/>
  <p:notesSz cx="6858000" cy="12192000"/>
  <p:embeddedFontLst>
    <p:embeddedFont>
      <p:font typeface="MiSans" pitchFamily="34" charset="-122"/>
      <p:regular r:id="rId24"/>
    </p:embeddedFont>
    <p:embeddedFont>
      <p:font typeface="MiSans" pitchFamily="34" charset="-120"/>
      <p:regular r:id="rId25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Calibri" panose="020F0502020204030204" pitchFamily="34" charset="-122"/>
      <p:regular r:id="rId30"/>
    </p:embeddedFont>
    <p:embeddedFont>
      <p:font typeface="Calibri" panose="020F0502020204030204" pitchFamily="34" charset="-120"/>
      <p:regular r:id="rId31"/>
    </p:embeddedFont>
    <p:embeddedFont>
      <p:font typeface="黑体" panose="02010609060101010101" charset="-122"/>
      <p:regular r:id="rId32"/>
    </p:embeddedFont>
    <p:embeddedFont>
      <p:font typeface="等线" panose="02010600030101010101" charset="-122"/>
      <p:regular r:id="rId3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3" Type="http://schemas.openxmlformats.org/officeDocument/2006/relationships/font" Target="fonts/font10.fntdata"/><Relationship Id="rId32" Type="http://schemas.openxmlformats.org/officeDocument/2006/relationships/font" Target="fonts/font9.fntdata"/><Relationship Id="rId31" Type="http://schemas.openxmlformats.org/officeDocument/2006/relationships/font" Target="fonts/font8.fntdata"/><Relationship Id="rId30" Type="http://schemas.openxmlformats.org/officeDocument/2006/relationships/font" Target="fonts/font7.fntdata"/><Relationship Id="rId3" Type="http://schemas.openxmlformats.org/officeDocument/2006/relationships/slideMaster" Target="slideMasters/slideMaster2.xml"/><Relationship Id="rId29" Type="http://schemas.openxmlformats.org/officeDocument/2006/relationships/font" Target="fonts/font6.fntdata"/><Relationship Id="rId28" Type="http://schemas.openxmlformats.org/officeDocument/2006/relationships/font" Target="fonts/font5.fntdata"/><Relationship Id="rId27" Type="http://schemas.openxmlformats.org/officeDocument/2006/relationships/font" Target="fonts/font4.fntdata"/><Relationship Id="rId26" Type="http://schemas.openxmlformats.org/officeDocument/2006/relationships/font" Target="fonts/font3.fntdata"/><Relationship Id="rId25" Type="http://schemas.openxmlformats.org/officeDocument/2006/relationships/font" Target="fonts/font2.fntdata"/><Relationship Id="rId24" Type="http://schemas.openxmlformats.org/officeDocument/2006/relationships/font" Target="fonts/font1.fntdata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10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8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49150" cy="6857365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0" y="0"/>
            <a:ext cx="12249150" cy="6857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-3272790" y="2583180"/>
            <a:ext cx="5962650" cy="596265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F6F8FD"/>
              </a:gs>
              <a:gs pos="66000">
                <a:srgbClr val="72C3CF">
                  <a:alpha val="0"/>
                </a:srgbClr>
              </a:gs>
              <a:gs pos="100000">
                <a:srgbClr val="72C3CF">
                  <a:alpha val="0"/>
                </a:srgbClr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>
            <a:off x="-3272790" y="2583180"/>
            <a:ext cx="5962650" cy="5962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109835" y="5440045"/>
            <a:ext cx="2676525" cy="267652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F6F8FD"/>
              </a:gs>
              <a:gs pos="100000">
                <a:srgbClr val="72C3CF">
                  <a:alpha val="0"/>
                </a:srgbClr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10109835" y="5440045"/>
            <a:ext cx="2676525" cy="267652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09345" y="2468245"/>
            <a:ext cx="10031095" cy="96075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DTOF技术</a:t>
            </a:r>
            <a:r>
              <a:rPr lang="zh-CN" altLang="en-US" sz="6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方案交流</a:t>
            </a:r>
            <a:endParaRPr lang="zh-CN" altLang="en-US" sz="6000" dirty="0">
              <a:solidFill>
                <a:srgbClr val="FFFFFF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802630" y="5266055"/>
            <a:ext cx="3486150" cy="46355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en-US" sz="20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2025/12/19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>
            <p:custDataLst>
              <p:tags r:id="rId1"/>
            </p:custDataLst>
          </p:nvPr>
        </p:nvSpPr>
        <p:spPr>
          <a:xfrm>
            <a:off x="5031441" y="1318802"/>
            <a:ext cx="270062" cy="1056827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74000">
                <a:srgbClr val="72C3CF"/>
              </a:gs>
              <a:gs pos="83000">
                <a:srgbClr val="72C3CF"/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5031441" y="1318802"/>
            <a:ext cx="270062" cy="10568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78089" y="1640417"/>
            <a:ext cx="1703917" cy="36830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45571" y="1110287"/>
            <a:ext cx="2674531" cy="530324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4000" b="1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CONTENT</a:t>
            </a:r>
            <a:endParaRPr lang="en-US" sz="1600" dirty="0"/>
          </a:p>
        </p:txBody>
      </p:sp>
      <p:sp>
        <p:nvSpPr>
          <p:cNvPr id="6" name="Shape 4"/>
          <p:cNvSpPr/>
          <p:nvPr>
            <p:custDataLst>
              <p:tags r:id="rId2"/>
            </p:custDataLst>
          </p:nvPr>
        </p:nvSpPr>
        <p:spPr>
          <a:xfrm>
            <a:off x="5031441" y="3615970"/>
            <a:ext cx="270062" cy="1056827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74000">
                <a:srgbClr val="72C3CF"/>
              </a:gs>
              <a:gs pos="83000">
                <a:srgbClr val="72C3CF"/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5031441" y="2952395"/>
            <a:ext cx="270062" cy="10568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>
            <p:custDataLst>
              <p:tags r:id="rId3"/>
            </p:custDataLst>
          </p:nvPr>
        </p:nvSpPr>
        <p:spPr>
          <a:xfrm>
            <a:off x="5524458" y="1401470"/>
            <a:ext cx="1703655" cy="891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>
            <p:custDataLst>
              <p:tags r:id="rId4"/>
            </p:custDataLst>
          </p:nvPr>
        </p:nvSpPr>
        <p:spPr>
          <a:xfrm>
            <a:off x="6495344" y="1618005"/>
            <a:ext cx="4388991" cy="5848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2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</a:t>
            </a:r>
            <a:r>
              <a:rPr lang="zh-CN" altLang="en-US" sz="22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调研</a:t>
            </a:r>
            <a:endParaRPr lang="zh-CN" altLang="en-US" sz="22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2" name="Text 10"/>
          <p:cNvSpPr/>
          <p:nvPr>
            <p:custDataLst>
              <p:tags r:id="rId5"/>
            </p:custDataLst>
          </p:nvPr>
        </p:nvSpPr>
        <p:spPr>
          <a:xfrm>
            <a:off x="5459095" y="3615482"/>
            <a:ext cx="1703655" cy="89154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200" b="1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Text 11"/>
          <p:cNvSpPr/>
          <p:nvPr>
            <p:custDataLst>
              <p:tags r:id="rId6"/>
            </p:custDataLst>
          </p:nvPr>
        </p:nvSpPr>
        <p:spPr>
          <a:xfrm>
            <a:off x="6495386" y="3851702"/>
            <a:ext cx="4388991" cy="58483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2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</a:t>
            </a:r>
            <a:r>
              <a:rPr lang="zh-CN" altLang="en-US" sz="22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讨论</a:t>
            </a:r>
            <a:endParaRPr lang="zh-CN" altLang="en-US" sz="22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28900" y="1594632"/>
            <a:ext cx="5962650" cy="596265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-2628900" y="1594632"/>
            <a:ext cx="5962650" cy="5962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7160000">
            <a:off x="1818005" y="6063762"/>
            <a:ext cx="1478915" cy="147891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17160000">
            <a:off x="1818005" y="6063762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30626" y="-877423"/>
            <a:ext cx="4990465" cy="4990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9130626" y="-877423"/>
            <a:ext cx="4990465" cy="4990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84815" y="5888502"/>
            <a:ext cx="2082165" cy="208216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90D0DF"/>
              </a:gs>
              <a:gs pos="4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9" name="Text 7"/>
          <p:cNvSpPr/>
          <p:nvPr/>
        </p:nvSpPr>
        <p:spPr>
          <a:xfrm>
            <a:off x="10584815" y="5888502"/>
            <a:ext cx="2082165" cy="20821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69235" y="3868420"/>
            <a:ext cx="6741160" cy="11233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4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方案调研</a:t>
            </a:r>
            <a:endParaRPr lang="zh-CN" altLang="en-US" sz="44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88313" y="1594675"/>
            <a:ext cx="1815374" cy="1815374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2" name="Text 10"/>
          <p:cNvSpPr/>
          <p:nvPr/>
        </p:nvSpPr>
        <p:spPr>
          <a:xfrm>
            <a:off x="5188313" y="1594675"/>
            <a:ext cx="1815374" cy="18153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6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93785" y="-474789"/>
            <a:ext cx="2069465" cy="2069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>
                  <a:alpha val="34000"/>
                </a:srgbClr>
              </a:gs>
            </a:gsLst>
            <a:lin ang="5400000" scaled="1"/>
          </a:gradFill>
        </p:spPr>
      </p:sp>
      <p:sp>
        <p:nvSpPr>
          <p:cNvPr id="14" name="Text 12"/>
          <p:cNvSpPr/>
          <p:nvPr/>
        </p:nvSpPr>
        <p:spPr>
          <a:xfrm>
            <a:off x="8693785" y="-474789"/>
            <a:ext cx="2069465" cy="2069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86995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DTOF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调研</a:t>
            </a:r>
            <a:endParaRPr lang="zh-CN" altLang="en-US" sz="2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2" name="Text 10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Text 13"/>
          <p:cNvSpPr/>
          <p:nvPr>
            <p:custDataLst>
              <p:tags r:id="rId1"/>
            </p:custDataLst>
          </p:nvPr>
        </p:nvSpPr>
        <p:spPr>
          <a:xfrm>
            <a:off x="1936750" y="1795145"/>
            <a:ext cx="5424170" cy="3390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市场规模</a:t>
            </a:r>
            <a:endParaRPr lang="zh-CN" altLang="en-US" sz="1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6" name="Text 14"/>
          <p:cNvSpPr/>
          <p:nvPr>
            <p:custDataLst>
              <p:tags r:id="rId2"/>
            </p:custDataLst>
          </p:nvPr>
        </p:nvSpPr>
        <p:spPr>
          <a:xfrm>
            <a:off x="1936557" y="2134330"/>
            <a:ext cx="8307446" cy="12426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瑞盟的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TDC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在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DTOF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业内的应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</a:rPr>
              <a:t>用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，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</a:rPr>
              <a:t>工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业市场中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DTOF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单点测距的水平及竞品情况是怎样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7" name="Text 15"/>
          <p:cNvSpPr/>
          <p:nvPr>
            <p:custDataLst>
              <p:tags r:id="rId3"/>
            </p:custDataLst>
          </p:nvPr>
        </p:nvSpPr>
        <p:spPr>
          <a:xfrm>
            <a:off x="1937385" y="3891915"/>
            <a:ext cx="5028565" cy="3390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主要竞品</a:t>
            </a:r>
            <a:r>
              <a:rPr lang="zh-CN" altLang="en-US" sz="1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指标</a:t>
            </a:r>
            <a:endParaRPr lang="zh-CN" altLang="en-US" sz="1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>
            <p:custDataLst>
              <p:tags r:id="rId4"/>
            </p:custDataLst>
          </p:nvPr>
        </p:nvSpPr>
        <p:spPr>
          <a:xfrm>
            <a:off x="1937385" y="4231005"/>
            <a:ext cx="10019030" cy="15951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基于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MS1005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的技术方案能否达到市场竞品的技术指标？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1555" y="-620077"/>
            <a:ext cx="1478915" cy="1478915"/>
          </a:xfrm>
          <a:prstGeom prst="ellipse">
            <a:avLst/>
          </a:prstGeom>
          <a:gradFill flip="none" rotWithShape="1">
            <a:gsLst>
              <a:gs pos="0">
                <a:srgbClr val="66BECB"/>
              </a:gs>
              <a:gs pos="45000">
                <a:srgbClr val="66BECB"/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1171555" y="-620077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9420000">
            <a:off x="-586085" y="-788784"/>
            <a:ext cx="1892602" cy="181644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A8EAE4">
                  <a:alpha val="42000"/>
                </a:srgbClr>
              </a:gs>
              <a:gs pos="25000">
                <a:srgbClr val="A8EAE4">
                  <a:alpha val="42000"/>
                </a:srgbClr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9420000">
            <a:off x="-586085" y="-788784"/>
            <a:ext cx="1892602" cy="18164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22535" y="-634619"/>
            <a:ext cx="2069465" cy="2069465"/>
          </a:xfrm>
          <a:prstGeom prst="ellipse">
            <a:avLst/>
          </a:prstGeom>
          <a:solidFill>
            <a:srgbClr val="E4F3F7">
              <a:alpha val="67059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122535" y="-634619"/>
            <a:ext cx="2069465" cy="2069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7630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5590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0433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8393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03235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1195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19260000">
            <a:off x="11113790" y="6092886"/>
            <a:ext cx="1892602" cy="181644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A8EAE4">
                  <a:alpha val="42000"/>
                </a:srgbClr>
              </a:gs>
              <a:gs pos="25000">
                <a:srgbClr val="A8EAE4">
                  <a:alpha val="42000"/>
                </a:srgbClr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22" name="Text 20"/>
          <p:cNvSpPr/>
          <p:nvPr/>
        </p:nvSpPr>
        <p:spPr>
          <a:xfrm rot="19260000">
            <a:off x="11113790" y="6092886"/>
            <a:ext cx="1892602" cy="18164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95271" y="5956459"/>
            <a:ext cx="431483" cy="431483"/>
          </a:xfrm>
          <a:prstGeom prst="ellipse">
            <a:avLst/>
          </a:prstGeom>
          <a:gradFill flip="none" rotWithShape="1">
            <a:gsLst>
              <a:gs pos="0">
                <a:srgbClr val="66BECB"/>
              </a:gs>
              <a:gs pos="45000">
                <a:srgbClr val="66BECB"/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24" name="Text 22"/>
          <p:cNvSpPr/>
          <p:nvPr/>
        </p:nvSpPr>
        <p:spPr>
          <a:xfrm>
            <a:off x="11695271" y="5956459"/>
            <a:ext cx="431483" cy="43148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8510" y="1109980"/>
            <a:ext cx="10634980" cy="5347335"/>
          </a:xfrm>
          <a:prstGeom prst="rect">
            <a:avLst/>
          </a:prstGeom>
        </p:spPr>
      </p:pic>
      <p:sp>
        <p:nvSpPr>
          <p:cNvPr id="32" name="Text 2"/>
          <p:cNvSpPr/>
          <p:nvPr/>
        </p:nvSpPr>
        <p:spPr>
          <a:xfrm>
            <a:off x="909320" y="398145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DTOF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测距原理框图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86995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DTOF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方案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调研</a:t>
            </a:r>
            <a:endParaRPr lang="zh-CN" altLang="en-US" sz="2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5475" y="391795"/>
            <a:ext cx="10941685" cy="607441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59182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西克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DT35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0" name="图片 1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48105" y="1174750"/>
            <a:ext cx="6798310" cy="5259070"/>
          </a:xfrm>
          <a:prstGeom prst="rect">
            <a:avLst/>
          </a:prstGeom>
        </p:spPr>
      </p:pic>
      <p:pic>
        <p:nvPicPr>
          <p:cNvPr id="21" name="图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950" y="4888865"/>
            <a:ext cx="4015740" cy="1463040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6325" y="613410"/>
            <a:ext cx="2527935" cy="281559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59182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西克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DT50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27480" y="1118235"/>
            <a:ext cx="5687695" cy="5455285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3535" y="5136515"/>
            <a:ext cx="4470400" cy="14370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8625" y="363855"/>
            <a:ext cx="2981960" cy="318579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59182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IFM O1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D100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435" y="2683510"/>
            <a:ext cx="10843895" cy="350456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0485" y="480695"/>
            <a:ext cx="3159125" cy="240855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7880" y="480695"/>
            <a:ext cx="2935605" cy="215836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59182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松下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CX F100 &amp; 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基恩士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  <a:sym typeface="+mn-ea"/>
              </a:rPr>
              <a:t>LR-T</a:t>
            </a:r>
            <a:endParaRPr lang="en-US" altLang="zh-CN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45" y="1304925"/>
            <a:ext cx="3277870" cy="3320415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220" y="1304925"/>
            <a:ext cx="3227705" cy="3227705"/>
          </a:xfrm>
          <a:prstGeom prst="rect">
            <a:avLst/>
          </a:prstGeom>
        </p:spPr>
      </p:pic>
      <p:sp>
        <p:nvSpPr>
          <p:cNvPr id="17" name="Text 2"/>
          <p:cNvSpPr/>
          <p:nvPr/>
        </p:nvSpPr>
        <p:spPr>
          <a:xfrm>
            <a:off x="1071245" y="4692015"/>
            <a:ext cx="4130040" cy="18757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松下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CX F100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0.25m - 3m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度：±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1% F.S.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响应时间：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5ms - 50ms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sp>
        <p:nvSpPr>
          <p:cNvPr id="18" name="Text 2"/>
          <p:cNvSpPr/>
          <p:nvPr/>
        </p:nvSpPr>
        <p:spPr>
          <a:xfrm>
            <a:off x="6655435" y="4692015"/>
            <a:ext cx="4130040" cy="187579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基恩士</a:t>
            </a:r>
            <a:r>
              <a:rPr lang="en-US" altLang="zh-CN" sz="28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 LR-T</a:t>
            </a:r>
            <a:endParaRPr lang="en-US" altLang="zh-CN" sz="2800" b="1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量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程：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0.06m - 5m</a:t>
            </a:r>
            <a:endParaRPr lang="zh-CN" altLang="en-US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精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   </a:t>
            </a: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度：±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 0.5% F.S.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  <a:p>
            <a:pPr>
              <a:lnSpc>
                <a:spcPct val="100000"/>
              </a:lnSpc>
            </a:pPr>
            <a:r>
              <a:rPr lang="zh-CN" altLang="en-US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响应时间：</a:t>
            </a:r>
            <a:r>
              <a:rPr lang="en-US" altLang="zh-CN" sz="24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1.5ms - 5ms</a:t>
            </a:r>
            <a:endParaRPr lang="en-US" altLang="zh-CN" sz="24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28900" y="1594632"/>
            <a:ext cx="5962650" cy="596265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-2628900" y="1594632"/>
            <a:ext cx="5962650" cy="5962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7160000">
            <a:off x="1818005" y="6063762"/>
            <a:ext cx="1478915" cy="147891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17160000">
            <a:off x="1818005" y="6063762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30626" y="-877423"/>
            <a:ext cx="4990465" cy="4990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9130626" y="-877423"/>
            <a:ext cx="4990465" cy="4990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84815" y="5888502"/>
            <a:ext cx="2082165" cy="208216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90D0DF"/>
              </a:gs>
              <a:gs pos="4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9" name="Text 7"/>
          <p:cNvSpPr/>
          <p:nvPr/>
        </p:nvSpPr>
        <p:spPr>
          <a:xfrm>
            <a:off x="10584815" y="5888502"/>
            <a:ext cx="2082165" cy="20821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69347" y="3868507"/>
            <a:ext cx="6653306" cy="9608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36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技术讨论</a:t>
            </a:r>
            <a:endParaRPr lang="zh-CN" altLang="en-US" sz="36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5188313" y="1594675"/>
            <a:ext cx="1815374" cy="1815374"/>
          </a:xfrm>
          <a:prstGeom prst="ellipse">
            <a:avLst/>
          </a:prstGeom>
          <a:gradFill flip="none" rotWithShape="1">
            <a:gsLst>
              <a:gs pos="0">
                <a:srgbClr val="90D0DF"/>
              </a:gs>
              <a:gs pos="12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2" name="Text 10"/>
          <p:cNvSpPr/>
          <p:nvPr/>
        </p:nvSpPr>
        <p:spPr>
          <a:xfrm>
            <a:off x="5188313" y="1594675"/>
            <a:ext cx="1815374" cy="18153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 algn="ctr">
              <a:lnSpc>
                <a:spcPct val="100000"/>
              </a:lnSpc>
            </a:pPr>
            <a:r>
              <a:rPr lang="en-US" sz="6600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693785" y="-474789"/>
            <a:ext cx="2069465" cy="2069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>
                  <a:alpha val="34000"/>
                </a:srgbClr>
              </a:gs>
            </a:gsLst>
            <a:lin ang="5400000" scaled="1"/>
          </a:gradFill>
        </p:spPr>
      </p:sp>
      <p:sp>
        <p:nvSpPr>
          <p:cNvPr id="14" name="Text 12"/>
          <p:cNvSpPr/>
          <p:nvPr/>
        </p:nvSpPr>
        <p:spPr>
          <a:xfrm>
            <a:off x="8693785" y="-474789"/>
            <a:ext cx="2069465" cy="2069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86995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</a:t>
            </a:r>
            <a:endParaRPr lang="zh-CN" altLang="en-US" sz="2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2" name="Text 10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6557" y="2134330"/>
            <a:ext cx="8307446" cy="12426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MCU + TDC 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的方案能否达到高精度、高响应时间？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36750" y="4064635"/>
            <a:ext cx="9027160" cy="15951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FPGA + TDC 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的方案中，如果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FPGA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内部集成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TDC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是否可行？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930535" y="-1973515"/>
            <a:ext cx="3278331" cy="3278331"/>
          </a:xfrm>
          <a:prstGeom prst="ellipse">
            <a:avLst/>
          </a:prstGeom>
          <a:solidFill>
            <a:srgbClr val="E4F3F7"/>
          </a:solidFill>
        </p:spPr>
      </p:sp>
      <p:sp>
        <p:nvSpPr>
          <p:cNvPr id="3" name="Text 1"/>
          <p:cNvSpPr/>
          <p:nvPr/>
        </p:nvSpPr>
        <p:spPr>
          <a:xfrm>
            <a:off x="-1930535" y="-1973515"/>
            <a:ext cx="3278331" cy="327833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1348105" y="869950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技术</a:t>
            </a:r>
            <a:r>
              <a:rPr lang="zh-CN" altLang="en-US" sz="2800" dirty="0">
                <a:solidFill>
                  <a:srgbClr val="63BCCA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问题</a:t>
            </a:r>
            <a:endParaRPr lang="zh-CN" altLang="en-US" sz="2800" dirty="0">
              <a:solidFill>
                <a:srgbClr val="63BCCA"/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5" name="Shape 3"/>
          <p:cNvSpPr/>
          <p:nvPr/>
        </p:nvSpPr>
        <p:spPr>
          <a:xfrm rot="15840000">
            <a:off x="8964785" y="4071499"/>
            <a:ext cx="3912574" cy="3912574"/>
          </a:xfrm>
          <a:prstGeom prst="ellipse">
            <a:avLst/>
          </a:prstGeom>
          <a:solidFill>
            <a:srgbClr val="000000">
              <a:alpha val="0"/>
            </a:srgbClr>
          </a:solidFill>
          <a:ln w="28575">
            <a:gradFill flip="none" rotWithShape="1">
              <a:gsLst>
                <a:gs pos="0">
                  <a:srgbClr val="F6F8FD"/>
                </a:gs>
                <a:gs pos="100000">
                  <a:srgbClr val="63BCCA"/>
                </a:gs>
              </a:gsLst>
              <a:lin ang="5400000" scaled="1"/>
            </a:gradFill>
            <a:prstDash val="sysDot"/>
          </a:ln>
        </p:spPr>
      </p:sp>
      <p:sp>
        <p:nvSpPr>
          <p:cNvPr id="6" name="Text 4"/>
          <p:cNvSpPr/>
          <p:nvPr/>
        </p:nvSpPr>
        <p:spPr>
          <a:xfrm rot="15840000">
            <a:off x="8964785" y="4071499"/>
            <a:ext cx="3912574" cy="3912574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964730" y="4327961"/>
            <a:ext cx="3656106" cy="3656106"/>
          </a:xfrm>
          <a:prstGeom prst="ellipse">
            <a:avLst/>
          </a:prstGeom>
          <a:gradFill flip="none" rotWithShape="1">
            <a:gsLst>
              <a:gs pos="0">
                <a:srgbClr val="63BCCA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8" name="Text 6"/>
          <p:cNvSpPr/>
          <p:nvPr/>
        </p:nvSpPr>
        <p:spPr>
          <a:xfrm>
            <a:off x="8964730" y="4327961"/>
            <a:ext cx="3656106" cy="365610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474974" y="3569701"/>
            <a:ext cx="4489927" cy="4489927"/>
          </a:xfrm>
          <a:prstGeom prst="ellipse">
            <a:avLst/>
          </a:prstGeom>
          <a:gradFill flip="none" rotWithShape="1">
            <a:gsLst>
              <a:gs pos="0">
                <a:srgbClr val="E4F3F7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10" name="Text 8"/>
          <p:cNvSpPr/>
          <p:nvPr/>
        </p:nvSpPr>
        <p:spPr>
          <a:xfrm>
            <a:off x="6474974" y="3569701"/>
            <a:ext cx="4489927" cy="4489927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2" name="Text 10"/>
          <p:cNvSpPr/>
          <p:nvPr/>
        </p:nvSpPr>
        <p:spPr>
          <a:xfrm>
            <a:off x="1468419" y="1795252"/>
            <a:ext cx="167262" cy="1594562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solidFill>
            <a:srgbClr val="63BCCA"/>
          </a:solidFill>
        </p:spPr>
      </p:sp>
      <p:sp>
        <p:nvSpPr>
          <p:cNvPr id="14" name="Text 12"/>
          <p:cNvSpPr/>
          <p:nvPr/>
        </p:nvSpPr>
        <p:spPr>
          <a:xfrm>
            <a:off x="1469054" y="3892022"/>
            <a:ext cx="166655" cy="1940236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936557" y="2134330"/>
            <a:ext cx="8307446" cy="124269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APD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作为接收器，需要关注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的信号处理及硬件设计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1936750" y="4064635"/>
            <a:ext cx="9027160" cy="159512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5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SiPM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作为接收器，需要关注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的信号处理和硬件设计？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阵列尺寸、像素需要什么规格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才满足测距需求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？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MiSans" pitchFamily="34" charset="-122"/>
              <a:ea typeface="MiSans" pitchFamily="34" charset="-122"/>
              <a:cs typeface="MiSans" pitchFamily="34" charset="-120"/>
            </a:endParaRPr>
          </a:p>
        </p:txBody>
      </p:sp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71555" y="-620077"/>
            <a:ext cx="1478915" cy="1478915"/>
          </a:xfrm>
          <a:prstGeom prst="ellipse">
            <a:avLst/>
          </a:prstGeom>
          <a:gradFill flip="none" rotWithShape="1">
            <a:gsLst>
              <a:gs pos="0">
                <a:srgbClr val="66BECB"/>
              </a:gs>
              <a:gs pos="45000">
                <a:srgbClr val="66BECB"/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11171555" y="-620077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9420000">
            <a:off x="-586085" y="-788784"/>
            <a:ext cx="1892602" cy="181644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A8EAE4">
                  <a:alpha val="42000"/>
                </a:srgbClr>
              </a:gs>
              <a:gs pos="25000">
                <a:srgbClr val="A8EAE4">
                  <a:alpha val="42000"/>
                </a:srgbClr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9420000">
            <a:off x="-586085" y="-788784"/>
            <a:ext cx="1892602" cy="18164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0122535" y="-634619"/>
            <a:ext cx="2069465" cy="2069465"/>
          </a:xfrm>
          <a:prstGeom prst="ellipse">
            <a:avLst/>
          </a:prstGeom>
          <a:solidFill>
            <a:srgbClr val="E4F3F7">
              <a:alpha val="67059"/>
            </a:srgbClr>
          </a:solidFill>
        </p:spPr>
      </p:sp>
      <p:sp>
        <p:nvSpPr>
          <p:cNvPr id="8" name="Text 6"/>
          <p:cNvSpPr/>
          <p:nvPr/>
        </p:nvSpPr>
        <p:spPr>
          <a:xfrm>
            <a:off x="10122535" y="-634619"/>
            <a:ext cx="2069465" cy="2069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57630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45590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730433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918393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03235" y="1325245"/>
            <a:ext cx="3025775" cy="454088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291195" y="2544445"/>
            <a:ext cx="2588895" cy="7429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 rot="19260000">
            <a:off x="11113790" y="6092886"/>
            <a:ext cx="1892602" cy="1816441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A8EAE4">
                  <a:alpha val="42000"/>
                </a:srgbClr>
              </a:gs>
              <a:gs pos="25000">
                <a:srgbClr val="A8EAE4">
                  <a:alpha val="42000"/>
                </a:srgbClr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22" name="Text 20"/>
          <p:cNvSpPr/>
          <p:nvPr/>
        </p:nvSpPr>
        <p:spPr>
          <a:xfrm rot="19260000">
            <a:off x="11113790" y="6092886"/>
            <a:ext cx="1892602" cy="1816441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695271" y="5956459"/>
            <a:ext cx="431483" cy="431483"/>
          </a:xfrm>
          <a:prstGeom prst="ellipse">
            <a:avLst/>
          </a:prstGeom>
          <a:gradFill flip="none" rotWithShape="1">
            <a:gsLst>
              <a:gs pos="0">
                <a:srgbClr val="66BECB"/>
              </a:gs>
              <a:gs pos="45000">
                <a:srgbClr val="66BECB"/>
              </a:gs>
              <a:gs pos="100000">
                <a:srgbClr val="E4F3F7"/>
              </a:gs>
            </a:gsLst>
            <a:lin ang="5400000" scaled="1"/>
          </a:gradFill>
        </p:spPr>
      </p:sp>
      <p:sp>
        <p:nvSpPr>
          <p:cNvPr id="24" name="Text 22"/>
          <p:cNvSpPr/>
          <p:nvPr/>
        </p:nvSpPr>
        <p:spPr>
          <a:xfrm>
            <a:off x="11695271" y="5956459"/>
            <a:ext cx="431483" cy="431483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Text 2"/>
          <p:cNvSpPr/>
          <p:nvPr/>
        </p:nvSpPr>
        <p:spPr>
          <a:xfrm>
            <a:off x="909320" y="398145"/>
            <a:ext cx="8070850" cy="461010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DTOF</a:t>
            </a:r>
            <a:r>
              <a:rPr lang="zh-CN" altLang="en-US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黑体" panose="02010609060101010101" charset="-122"/>
              </a:rPr>
              <a:t>测距原理框图</a:t>
            </a:r>
            <a:endParaRPr lang="zh-CN" altLang="en-US" sz="28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黑体" panose="02010609060101010101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170" y="859155"/>
            <a:ext cx="10887710" cy="5661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628900" y="1594632"/>
            <a:ext cx="5962650" cy="596265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-2628900" y="1594632"/>
            <a:ext cx="5962650" cy="5962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7160000">
            <a:off x="1818005" y="6063762"/>
            <a:ext cx="1478915" cy="147891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17160000">
            <a:off x="1818005" y="6063762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130626" y="-877423"/>
            <a:ext cx="4990465" cy="4990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/>
              </a:gs>
            </a:gsLst>
            <a:lin ang="5400000" scaled="1"/>
          </a:gradFill>
        </p:spPr>
      </p:sp>
      <p:sp>
        <p:nvSpPr>
          <p:cNvPr id="7" name="Text 5"/>
          <p:cNvSpPr/>
          <p:nvPr/>
        </p:nvSpPr>
        <p:spPr>
          <a:xfrm>
            <a:off x="9130626" y="-877423"/>
            <a:ext cx="4990465" cy="4990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584815" y="5888502"/>
            <a:ext cx="2082165" cy="2082165"/>
          </a:xfrm>
          <a:prstGeom prst="blockArc">
            <a:avLst>
              <a:gd name="adj1" fmla="val 10800000"/>
              <a:gd name="adj2" fmla="val 0"/>
              <a:gd name="adj3" fmla="val 25000"/>
            </a:avLst>
          </a:prstGeom>
          <a:gradFill flip="none" rotWithShape="1">
            <a:gsLst>
              <a:gs pos="0">
                <a:srgbClr val="90D0DF"/>
              </a:gs>
              <a:gs pos="4000">
                <a:srgbClr val="90D0DF"/>
              </a:gs>
              <a:gs pos="100000">
                <a:srgbClr val="F6F8FD">
                  <a:alpha val="0"/>
                </a:srgbClr>
              </a:gs>
            </a:gsLst>
            <a:lin ang="5400000" scaled="1"/>
          </a:gradFill>
        </p:spPr>
      </p:sp>
      <p:sp>
        <p:nvSpPr>
          <p:cNvPr id="9" name="Text 7"/>
          <p:cNvSpPr/>
          <p:nvPr/>
        </p:nvSpPr>
        <p:spPr>
          <a:xfrm>
            <a:off x="10584815" y="5888502"/>
            <a:ext cx="2082165" cy="20821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69347" y="2736302"/>
            <a:ext cx="6653306" cy="960815"/>
          </a:xfrm>
          <a:prstGeom prst="rect">
            <a:avLst/>
          </a:prstGeom>
          <a:noFill/>
        </p:spPr>
        <p:txBody>
          <a:bodyPr wrap="square" lIns="91440" tIns="45720" rIns="91440" bIns="45720" rtlCol="0" anchor="t"/>
          <a:lstStyle/>
          <a:p>
            <a:pPr algn="ctr">
              <a:lnSpc>
                <a:spcPct val="100000"/>
              </a:lnSpc>
            </a:pPr>
            <a:r>
              <a:rPr lang="zh-CN" altLang="en-US" sz="6000" dirty="0">
                <a:solidFill>
                  <a:schemeClr val="tx1">
                    <a:lumMod val="65000"/>
                    <a:lumOff val="35000"/>
                  </a:schemeClr>
                </a:solidFill>
                <a:latin typeface="黑体" panose="02010609060101010101" charset="-122"/>
                <a:ea typeface="黑体" panose="02010609060101010101" charset="-122"/>
                <a:cs typeface="MiSans" pitchFamily="34" charset="-120"/>
              </a:rPr>
              <a:t>补充</a:t>
            </a:r>
            <a:endParaRPr lang="zh-CN" altLang="en-US" sz="6000" dirty="0">
              <a:solidFill>
                <a:schemeClr val="tx1">
                  <a:lumMod val="65000"/>
                  <a:lumOff val="35000"/>
                </a:schemeClr>
              </a:solidFill>
              <a:latin typeface="黑体" panose="02010609060101010101" charset="-122"/>
              <a:ea typeface="黑体" panose="02010609060101010101" charset="-122"/>
              <a:cs typeface="MiSans" pitchFamily="34" charset="-12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8693785" y="-474789"/>
            <a:ext cx="2069465" cy="2069465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0"/>
                </a:srgbClr>
              </a:gs>
              <a:gs pos="100000">
                <a:srgbClr val="90D0DF">
                  <a:alpha val="34000"/>
                </a:srgbClr>
              </a:gs>
            </a:gsLst>
            <a:lin ang="5400000" scaled="1"/>
          </a:gradFill>
        </p:spPr>
      </p:sp>
      <p:sp>
        <p:nvSpPr>
          <p:cNvPr id="14" name="Text 12"/>
          <p:cNvSpPr/>
          <p:nvPr/>
        </p:nvSpPr>
        <p:spPr>
          <a:xfrm>
            <a:off x="8693785" y="-474789"/>
            <a:ext cx="2069465" cy="2069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249150" cy="6857365"/>
          </a:xfrm>
          <a:prstGeom prst="rect">
            <a:avLst/>
          </a:prstGeom>
          <a:gradFill flip="none" rotWithShape="1">
            <a:gsLst>
              <a:gs pos="0">
                <a:srgbClr val="F6F8FD"/>
              </a:gs>
              <a:gs pos="66000">
                <a:srgbClr val="72C3CF"/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3" name="Text 1"/>
          <p:cNvSpPr/>
          <p:nvPr/>
        </p:nvSpPr>
        <p:spPr>
          <a:xfrm>
            <a:off x="0" y="0"/>
            <a:ext cx="12249150" cy="68573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 rot="18600000">
            <a:off x="-2628900" y="1578610"/>
            <a:ext cx="5962650" cy="5962650"/>
          </a:xfrm>
          <a:prstGeom prst="donut">
            <a:avLst>
              <a:gd name="adj" fmla="val 25000"/>
            </a:avLst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5" name="Text 3"/>
          <p:cNvSpPr/>
          <p:nvPr/>
        </p:nvSpPr>
        <p:spPr>
          <a:xfrm rot="18600000">
            <a:off x="-2628900" y="1578610"/>
            <a:ext cx="5962650" cy="596265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558925" y="5872480"/>
            <a:ext cx="1478915" cy="1478915"/>
          </a:xfrm>
          <a:prstGeom prst="ellipse">
            <a:avLst/>
          </a:prstGeom>
          <a:solidFill>
            <a:srgbClr val="E4F3F7">
              <a:alpha val="90196"/>
            </a:srgbClr>
          </a:solidFill>
        </p:spPr>
      </p:sp>
      <p:sp>
        <p:nvSpPr>
          <p:cNvPr id="7" name="Text 5"/>
          <p:cNvSpPr/>
          <p:nvPr/>
        </p:nvSpPr>
        <p:spPr>
          <a:xfrm>
            <a:off x="1558925" y="5872480"/>
            <a:ext cx="1478915" cy="147891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768205" y="2360930"/>
            <a:ext cx="4990465" cy="4990465"/>
          </a:xfrm>
          <a:prstGeom prst="ellipse">
            <a:avLst/>
          </a:prstGeom>
          <a:gradFill flip="none" rotWithShape="1">
            <a:gsLst>
              <a:gs pos="0">
                <a:srgbClr val="F6F8FD"/>
              </a:gs>
              <a:gs pos="100000">
                <a:srgbClr val="72C3CF">
                  <a:alpha val="0"/>
                </a:srgbClr>
              </a:gs>
            </a:gsLst>
            <a:lin ang="5400000" scaled="1"/>
          </a:gradFill>
        </p:spPr>
      </p:sp>
      <p:sp>
        <p:nvSpPr>
          <p:cNvPr id="9" name="Text 7"/>
          <p:cNvSpPr/>
          <p:nvPr/>
        </p:nvSpPr>
        <p:spPr>
          <a:xfrm>
            <a:off x="9768205" y="2360930"/>
            <a:ext cx="4990465" cy="4990465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189335" y="1578610"/>
            <a:ext cx="1478280" cy="1478280"/>
          </a:xfrm>
          <a:prstGeom prst="ellipse">
            <a:avLst/>
          </a:prstGeom>
          <a:gradFill flip="none" rotWithShape="1">
            <a:gsLst>
              <a:gs pos="0">
                <a:srgbClr val="F6F8FD">
                  <a:alpha val="50000"/>
                </a:srgbClr>
              </a:gs>
              <a:gs pos="100000">
                <a:srgbClr val="72C3CF"/>
              </a:gs>
            </a:gsLst>
            <a:lin ang="5400000" scaled="1"/>
          </a:gradFill>
        </p:spPr>
      </p:sp>
      <p:sp>
        <p:nvSpPr>
          <p:cNvPr id="11" name="Text 9"/>
          <p:cNvSpPr/>
          <p:nvPr/>
        </p:nvSpPr>
        <p:spPr>
          <a:xfrm>
            <a:off x="11189335" y="1578610"/>
            <a:ext cx="1478280" cy="1478280"/>
          </a:xfrm>
          <a:prstGeom prst="rect">
            <a:avLst/>
          </a:prstGeom>
          <a:noFill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566353" y="2042795"/>
            <a:ext cx="10418445" cy="156845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-122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2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3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4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5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6.xml><?xml version="1.0" encoding="utf-8"?>
<p:tagLst xmlns:p="http://schemas.openxmlformats.org/presentationml/2006/main">
  <p:tag name="KSO_WM_DIAGRAM_VIRTUALLY_FRAME" val="{&quot;height&quot;:332.31464566929134,&quot;left&quot;:396.17645669291335,&quot;top&quot;:103.84267716535433,&quot;width&quot;:460.86110236220463}"/>
</p:tagLst>
</file>

<file path=ppt/tags/tag7.xml><?xml version="1.0" encoding="utf-8"?>
<p:tagLst xmlns:p="http://schemas.openxmlformats.org/presentationml/2006/main">
  <p:tag name="KSO_WM_DIAGRAM_VIRTUALLY_FRAME" val="{&quot;height&quot;:317.4,&quot;left&quot;:152.4848031496063,&quot;top&quot;:141.35,&quot;width&quot;:788.9651968503937}"/>
</p:tagLst>
</file>

<file path=ppt/tags/tag8.xml><?xml version="1.0" encoding="utf-8"?>
<p:tagLst xmlns:p="http://schemas.openxmlformats.org/presentationml/2006/main">
  <p:tag name="KSO_WM_DIAGRAM_VIRTUALLY_FRAME" val="{&quot;height&quot;:317.4,&quot;left&quot;:152.4848031496063,&quot;top&quot;:141.35,&quot;width&quot;:788.9651968503937}"/>
</p:tagLst>
</file>

<file path=ppt/tags/tag9.xml><?xml version="1.0" encoding="utf-8"?>
<p:tagLst xmlns:p="http://schemas.openxmlformats.org/presentationml/2006/main">
  <p:tag name="KSO_WM_DIAGRAM_VIRTUALLY_FRAME" val="{&quot;height&quot;:317.4,&quot;left&quot;:152.4848031496063,&quot;top&quot;:141.35,&quot;width&quot;:788.9651968503937}"/>
</p:tagLst>
</file>

<file path=ppt/tags/tag10.xml><?xml version="1.0" encoding="utf-8"?>
<p:tagLst xmlns:p="http://schemas.openxmlformats.org/presentationml/2006/main">
  <p:tag name="KSO_WM_DIAGRAM_VIRTUALLY_FRAME" val="{&quot;height&quot;:317.4,&quot;left&quot;:152.4848031496063,&quot;top&quot;:141.35,&quot;width&quot;:788.9651968503937}"/>
</p:tagLst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475</Words>
  <Application>WPS 演示</Application>
  <PresentationFormat>On-screen Show (16:9)</PresentationFormat>
  <Paragraphs>75</Paragraphs>
  <Slides>16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16</vt:i4>
      </vt:variant>
    </vt:vector>
  </HeadingPairs>
  <TitlesOfParts>
    <vt:vector size="30" baseType="lpstr">
      <vt:lpstr>Arial</vt:lpstr>
      <vt:lpstr>宋体</vt:lpstr>
      <vt:lpstr>Wingdings</vt:lpstr>
      <vt:lpstr>MiSans</vt:lpstr>
      <vt:lpstr>MiSans</vt:lpstr>
      <vt:lpstr>Calibri</vt:lpstr>
      <vt:lpstr>Calibri</vt:lpstr>
      <vt:lpstr>Calibri</vt:lpstr>
      <vt:lpstr>黑体</vt:lpstr>
      <vt:lpstr>微软雅黑</vt:lpstr>
      <vt:lpstr>Arial Unicode MS</vt:lpstr>
      <vt:lpstr>等线</vt:lpstr>
      <vt:lpstr>Custom Theme</vt:lpstr>
      <vt:lpstr>1_Custom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Moonshot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瑞盟DTOF单点测距技术对决</dc:title>
  <dc:creator>Kimi</dc:creator>
  <dc:subject>瑞盟DTOF单点测距技术对决</dc:subject>
  <cp:lastModifiedBy>Hush.</cp:lastModifiedBy>
  <cp:revision>13</cp:revision>
  <dcterms:created xsi:type="dcterms:W3CDTF">2025-12-18T08:25:00Z</dcterms:created>
  <dcterms:modified xsi:type="dcterms:W3CDTF">2025-12-19T02:21:56Z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{"Label":"瑞盟DTOF单点测距技术对决","ContentProducer":"001191110108MACG2KBH8F10000","ProduceID":"d51rhdgge03qntk2j5n0","ReservedCode1":"","ContentPropagator":"001191110108MACG2KBH8F20000","PropagateID":"d51rhdgge03qntk2j5n0","ReservedCode2":""}</vt:lpwstr>
  </property>
  <property fmtid="{D5CDD505-2E9C-101B-9397-08002B2CF9AE}" pid="3" name="KSOProductBuildVer">
    <vt:lpwstr>2052-12.1.0.24034</vt:lpwstr>
  </property>
  <property fmtid="{D5CDD505-2E9C-101B-9397-08002B2CF9AE}" pid="4" name="ICV">
    <vt:lpwstr>13D20675427E4DEE9DBEDA2D3E5F4680_12</vt:lpwstr>
  </property>
</Properties>
</file>